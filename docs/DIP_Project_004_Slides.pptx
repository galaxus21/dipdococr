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fd1f6b6-c9c6-07ce-13dd-739021dd0f87}">
          <p14:sldIdLst>
            <p14:sldId id="256"/>
            <p14:sldId id="257"/>
          </p14:sldIdLst>
        </p14:section>
        <p14:section name="Method" id="{ca5bd6f4-559c-64c4-fb1c-1e7f7bff851a}">
          <p14:sldIdLst>
            <p14:sldId id="258"/>
            <p14:sldId id="259"/>
            <p14:sldId id="260"/>
          </p14:sldIdLst>
        </p14:section>
        <p14:section name="Results" id="{4386621c-5167-13e1-29f4-d4e845779d11}">
          <p14:sldIdLst>
            <p14:sldId id="261"/>
            <p14:sldId id="262"/>
            <p14:sldId id="263"/>
            <p14:sldId id="264"/>
          </p14:sldIdLst>
        </p14:section>
        <p14:section name="Wrap-up" id="{6dbb8f25-b92f-0f67-11aa-8aa3cb7d8245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test which classical image-processing stages help a modern OCR engine read degraded insurance invoices.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claim scans are skewed, unevenly lit, noisy or blurred. The project asks which preprocessing stages help OCR, measured by CER and 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claims are private, so we generated A4 invoices with known text. Each page is degraded under seven conditions. 20 pages per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methods are compared. Only the OCR engine is learned; every other stage is classical DIP.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Intermediate images for one combined-condition page: illumination correction flattens the lighting, deskew straightens the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CER per condition. gray is the untouched grayscale baseline.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Deskew is the clear win. Illumination correction rescues the simple global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enhancement does not beat the raw image on most conditions, and some stages hurt. Binarisation suits classical OCR, which we did not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Representative before and after crops for each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limitations directly; the tuned stages are likely to look better here than on new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members can explain the full pipeline. Code, results and the report are in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Document-Image Enhancement for OCR on Insurance Claim Invoices</a:t>
            </a:r>
            <a:endParaRPr lang="en-US" sz="3800" dirty="0"/>
          </a:p>
        </p:txBody>
      </p:sp>
      <p:sp>
        <p:nvSpPr>
          <p:cNvPr id="3" name="course line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Digital Image Processing - Course Project 2026 (HSR-AIML-004, adapted to a DIP scope)</a:t>
            </a:r>
            <a:endParaRPr lang="en-US" sz="1600" dirty="0"/>
          </a:p>
        </p:txBody>
      </p:sp>
      <p:sp>
        <p:nvSpPr>
          <p:cNvPr id="4" name="authors"/>
          <p:cNvSpPr txBox="1"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Shubham Verma (23CS3052)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Digdarshan Mishra (23CS3024)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Scanned claim documents arrive degraded</a:t>
            </a:r>
            <a:endParaRPr lang="en-US" sz="2800" dirty="0"/>
          </a:p>
        </p:txBody>
      </p:sp>
      <p:sp>
        <p:nvSpPr>
          <p:cNvPr id="3" name="skew card"/>
          <p:cNvSpPr/>
          <p:nvPr/>
        </p:nvSpPr>
        <p:spPr>
          <a:xfrm>
            <a:off x="45720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skew title"/>
          <p:cNvSpPr txBox="1"/>
          <p:nvPr/>
        </p:nvSpPr>
        <p:spPr>
          <a:xfrm>
            <a:off x="64008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Skewed</a:t>
            </a:r>
            <a:endParaRPr lang="en-US" sz="1600" dirty="0"/>
          </a:p>
        </p:txBody>
      </p:sp>
      <p:sp>
        <p:nvSpPr>
          <p:cNvPr id="5" name="skew text"/>
          <p:cNvSpPr txBox="1"/>
          <p:nvPr/>
        </p:nvSpPr>
        <p:spPr>
          <a:xfrm>
            <a:off x="640080" y="1828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Pages photographed or fed at an angle</a:t>
            </a:r>
            <a:endParaRPr lang="en-US" sz="1400" dirty="0"/>
          </a:p>
        </p:txBody>
      </p:sp>
      <p:sp>
        <p:nvSpPr>
          <p:cNvPr id="6" name="light card"/>
          <p:cNvSpPr/>
          <p:nvPr/>
        </p:nvSpPr>
        <p:spPr>
          <a:xfrm>
            <a:off x="324612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7" name="light title"/>
          <p:cNvSpPr txBox="1"/>
          <p:nvPr/>
        </p:nvSpPr>
        <p:spPr>
          <a:xfrm>
            <a:off x="342900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Unevenly lit</a:t>
            </a:r>
            <a:endParaRPr lang="en-US" sz="1600" dirty="0"/>
          </a:p>
        </p:txBody>
      </p:sp>
      <p:sp>
        <p:nvSpPr>
          <p:cNvPr id="8" name="light text"/>
          <p:cNvSpPr txBox="1"/>
          <p:nvPr/>
        </p:nvSpPr>
        <p:spPr>
          <a:xfrm>
            <a:off x="3429000" y="1828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Shadows and gradients across the page</a:t>
            </a:r>
            <a:endParaRPr lang="en-US" sz="1400" dirty="0"/>
          </a:p>
        </p:txBody>
      </p:sp>
      <p:sp>
        <p:nvSpPr>
          <p:cNvPr id="9" name="noise card"/>
          <p:cNvSpPr/>
          <p:nvPr/>
        </p:nvSpPr>
        <p:spPr>
          <a:xfrm>
            <a:off x="6035040" y="1280160"/>
            <a:ext cx="260604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0" name="noise title"/>
          <p:cNvSpPr txBox="1"/>
          <p:nvPr/>
        </p:nvSpPr>
        <p:spPr>
          <a:xfrm>
            <a:off x="6217920" y="1417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Noisy or blurred</a:t>
            </a:r>
            <a:endParaRPr lang="en-US" sz="1600" dirty="0"/>
          </a:p>
        </p:txBody>
      </p:sp>
      <p:sp>
        <p:nvSpPr>
          <p:cNvPr id="11" name="noise text"/>
          <p:cNvSpPr txBox="1"/>
          <p:nvPr/>
        </p:nvSpPr>
        <p:spPr>
          <a:xfrm>
            <a:off x="6217920" y="1828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Sensor noise, camera shake, faint print</a:t>
            </a:r>
            <a:endParaRPr lang="en-US" sz="1400" dirty="0"/>
          </a:p>
        </p:txBody>
      </p:sp>
      <p:sp>
        <p:nvSpPr>
          <p:cNvPr id="12" name="research question"/>
          <p:cNvSpPr txBox="1"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Question: which classical DIP stages actually improve a modern learned OCR engine - and which do nothing or hurt?</a:t>
            </a:r>
            <a:endParaRPr lang="en-US" sz="2000" dirty="0"/>
          </a:p>
        </p:txBody>
      </p:sp>
      <p:sp>
        <p:nvSpPr>
          <p:cNvPr id="13" name="outcome line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Outcome measured: character error rate (CER) and word error rate (WER) against known ground-truth text.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Synthetic invoices under seven conditions</a:t>
            </a:r>
            <a:endParaRPr lang="en-US" sz="2800" dirty="0"/>
          </a:p>
        </p:txBody>
      </p:sp>
      <p:sp>
        <p:nvSpPr>
          <p:cNvPr id="3" name="clean card"/>
          <p:cNvSpPr/>
          <p:nvPr/>
        </p:nvSpPr>
        <p:spPr>
          <a:xfrm>
            <a:off x="457200" y="123444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clean title"/>
          <p:cNvSpPr txBox="1"/>
          <p:nvPr/>
        </p:nvSpPr>
        <p:spPr>
          <a:xfrm>
            <a:off x="640080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clean</a:t>
            </a:r>
            <a:endParaRPr lang="en-US" sz="1600" dirty="0"/>
          </a:p>
        </p:txBody>
      </p:sp>
      <p:sp>
        <p:nvSpPr>
          <p:cNvPr id="5" name="clean text"/>
          <p:cNvSpPr txBox="1"/>
          <p:nvPr/>
        </p:nvSpPr>
        <p:spPr>
          <a:xfrm>
            <a:off x="640080" y="1783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degradation</a:t>
            </a:r>
            <a:endParaRPr lang="en-US" sz="1400" dirty="0"/>
          </a:p>
        </p:txBody>
      </p:sp>
      <p:sp>
        <p:nvSpPr>
          <p:cNvPr id="6" name="blur card"/>
          <p:cNvSpPr/>
          <p:nvPr/>
        </p:nvSpPr>
        <p:spPr>
          <a:xfrm>
            <a:off x="2542032" y="123444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7" name="blur title"/>
          <p:cNvSpPr txBox="1"/>
          <p:nvPr/>
        </p:nvSpPr>
        <p:spPr>
          <a:xfrm>
            <a:off x="2724912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blur</a:t>
            </a:r>
            <a:endParaRPr lang="en-US" sz="1600" dirty="0"/>
          </a:p>
        </p:txBody>
      </p:sp>
      <p:sp>
        <p:nvSpPr>
          <p:cNvPr id="8" name="blur text"/>
          <p:cNvSpPr txBox="1"/>
          <p:nvPr/>
        </p:nvSpPr>
        <p:spPr>
          <a:xfrm>
            <a:off x="2724912" y="1783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Gaussian, sigma 2.2 px</a:t>
            </a:r>
            <a:endParaRPr lang="en-US" sz="1400" dirty="0"/>
          </a:p>
        </p:txBody>
      </p:sp>
      <p:sp>
        <p:nvSpPr>
          <p:cNvPr id="9" name="noise card"/>
          <p:cNvSpPr/>
          <p:nvPr/>
        </p:nvSpPr>
        <p:spPr>
          <a:xfrm>
            <a:off x="4626864" y="123444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0" name="noise title"/>
          <p:cNvSpPr txBox="1"/>
          <p:nvPr/>
        </p:nvSpPr>
        <p:spPr>
          <a:xfrm>
            <a:off x="4809744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noise</a:t>
            </a:r>
            <a:endParaRPr lang="en-US" sz="1600" dirty="0"/>
          </a:p>
        </p:txBody>
      </p:sp>
      <p:sp>
        <p:nvSpPr>
          <p:cNvPr id="11" name="noise text"/>
          <p:cNvSpPr txBox="1"/>
          <p:nvPr/>
        </p:nvSpPr>
        <p:spPr>
          <a:xfrm>
            <a:off x="4809744" y="1783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Gaussian std 28 + 2% salt-and-pepper</a:t>
            </a:r>
            <a:endParaRPr lang="en-US" sz="1400" dirty="0"/>
          </a:p>
        </p:txBody>
      </p:sp>
      <p:sp>
        <p:nvSpPr>
          <p:cNvPr id="12" name="unevenLight card"/>
          <p:cNvSpPr/>
          <p:nvPr/>
        </p:nvSpPr>
        <p:spPr>
          <a:xfrm>
            <a:off x="6711696" y="123444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3" name="unevenLight title"/>
          <p:cNvSpPr txBox="1"/>
          <p:nvPr/>
        </p:nvSpPr>
        <p:spPr>
          <a:xfrm>
            <a:off x="6894576" y="1371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unevenLight</a:t>
            </a:r>
            <a:endParaRPr lang="en-US" sz="1600" dirty="0"/>
          </a:p>
        </p:txBody>
      </p:sp>
      <p:sp>
        <p:nvSpPr>
          <p:cNvPr id="14" name="unevenLight text"/>
          <p:cNvSpPr txBox="1"/>
          <p:nvPr/>
        </p:nvSpPr>
        <p:spPr>
          <a:xfrm>
            <a:off x="6894576" y="17830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Brightness ramp to 35%</a:t>
            </a:r>
            <a:endParaRPr lang="en-US" sz="1400" dirty="0"/>
          </a:p>
        </p:txBody>
      </p:sp>
      <p:sp>
        <p:nvSpPr>
          <p:cNvPr id="15" name="lowContrast card"/>
          <p:cNvSpPr/>
          <p:nvPr/>
        </p:nvSpPr>
        <p:spPr>
          <a:xfrm>
            <a:off x="457200" y="26517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6" name="lowContrast title"/>
          <p:cNvSpPr txBox="1"/>
          <p:nvPr/>
        </p:nvSpPr>
        <p:spPr>
          <a:xfrm>
            <a:off x="640080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lowContrast</a:t>
            </a:r>
            <a:endParaRPr lang="en-US" sz="1600" dirty="0"/>
          </a:p>
        </p:txBody>
      </p:sp>
      <p:sp>
        <p:nvSpPr>
          <p:cNvPr id="17" name="lowContrast text"/>
          <p:cNvSpPr txBox="1"/>
          <p:nvPr/>
        </p:nvSpPr>
        <p:spPr>
          <a:xfrm>
            <a:off x="640080" y="3200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Grey range 140-190</a:t>
            </a:r>
            <a:endParaRPr lang="en-US" sz="1400" dirty="0"/>
          </a:p>
        </p:txBody>
      </p:sp>
      <p:sp>
        <p:nvSpPr>
          <p:cNvPr id="18" name="skew card"/>
          <p:cNvSpPr/>
          <p:nvPr/>
        </p:nvSpPr>
        <p:spPr>
          <a:xfrm>
            <a:off x="2542032" y="26517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9" name="skew title"/>
          <p:cNvSpPr txBox="1"/>
          <p:nvPr/>
        </p:nvSpPr>
        <p:spPr>
          <a:xfrm>
            <a:off x="2724912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skew</a:t>
            </a:r>
            <a:endParaRPr lang="en-US" sz="1600" dirty="0"/>
          </a:p>
        </p:txBody>
      </p:sp>
      <p:sp>
        <p:nvSpPr>
          <p:cNvPr id="20" name="skew text"/>
          <p:cNvSpPr txBox="1"/>
          <p:nvPr/>
        </p:nvSpPr>
        <p:spPr>
          <a:xfrm>
            <a:off x="2724912" y="3200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Rotation 3-8 degrees</a:t>
            </a:r>
            <a:endParaRPr lang="en-US" sz="1400" dirty="0"/>
          </a:p>
        </p:txBody>
      </p:sp>
      <p:sp>
        <p:nvSpPr>
          <p:cNvPr id="21" name="combined card"/>
          <p:cNvSpPr/>
          <p:nvPr/>
        </p:nvSpPr>
        <p:spPr>
          <a:xfrm>
            <a:off x="4626864" y="2651760"/>
            <a:ext cx="19659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2" name="combined title"/>
          <p:cNvSpPr txBox="1"/>
          <p:nvPr/>
        </p:nvSpPr>
        <p:spPr>
          <a:xfrm>
            <a:off x="4809744" y="27889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combined</a:t>
            </a:r>
            <a:endParaRPr lang="en-US" sz="1600" dirty="0"/>
          </a:p>
        </p:txBody>
      </p:sp>
      <p:sp>
        <p:nvSpPr>
          <p:cNvPr id="23" name="combined text"/>
          <p:cNvSpPr txBox="1"/>
          <p:nvPr/>
        </p:nvSpPr>
        <p:spPr>
          <a:xfrm>
            <a:off x="4809744" y="32004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Blur, contrast, light, noise at 40% + skew</a:t>
            </a:r>
            <a:endParaRPr lang="en-US" sz="1400" dirty="0"/>
          </a:p>
        </p:txBody>
      </p:sp>
      <p:sp>
        <p:nvSpPr>
          <p:cNvPr id="24" name="data line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20 generated A4 pages (1240 x 1754 px), random fonts and amounts, exact ground truth known. Seed 2026.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Pipeline: classical DIP stages, then a learned OCR</a:t>
            </a:r>
            <a:endParaRPr lang="en-US" sz="2800" dirty="0"/>
          </a:p>
        </p:txBody>
      </p:sp>
      <p:pic>
        <p:nvPicPr>
          <p:cNvPr id="3" name="pipeline block diagram" descr="Block diagram: grayscale, denoise, illumination correction, contrast stretch, optional CLAHE, deskew, optional adaptive threshold and morphology, RapidOCR, CER and W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8229600" cy="1700784"/>
          </a:xfrm>
          <a:prstGeom prst="rect">
            <a:avLst/>
          </a:prstGeom>
        </p:spPr>
      </p:pic>
      <p:sp>
        <p:nvSpPr>
          <p:cNvPr id="4" name="methods list"/>
          <p:cNvSpPr txBox="1"/>
          <p:nvPr/>
        </p:nvSpPr>
        <p:spPr>
          <a:xfrm>
            <a:off x="457200" y="30632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gray: no processing (baseline)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otsu: global threshold (classical baseline)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enhanced: denoise, illumination, stretch, deskew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enhancedClahe: enhanced + CLAHE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enhancedBinary: enhanced + adaptive threshold + morphology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What each stage does to a hard page</a:t>
            </a:r>
            <a:endParaRPr lang="en-US" sz="2800" dirty="0"/>
          </a:p>
        </p:txBody>
      </p:sp>
      <p:pic>
        <p:nvPicPr>
          <p:cNvPr id="3" name="pipeline stage montage" descr="Intermediate images from the input page through each DIP st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63016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OCR error by condition and method</a:t>
            </a:r>
            <a:endParaRPr lang="en-US" sz="2800" dirty="0"/>
          </a:p>
        </p:txBody>
      </p:sp>
      <p:pic>
        <p:nvPicPr>
          <p:cNvPr id="3" name="CER bar chart" descr="Mean character error rate for five methods across seven condition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5852160" cy="2551176"/>
          </a:xfrm>
          <a:prstGeom prst="rect">
            <a:avLst/>
          </a:prstGeom>
        </p:spPr>
      </p:pic>
      <p:sp>
        <p:nvSpPr>
          <p:cNvPr id="4" name="chart commentary"/>
          <p:cNvSpPr txBox="1"/>
          <p:nvPr/>
        </p:nvSpPr>
        <p:spPr>
          <a:xfrm>
            <a:off x="6400800" y="123444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CER over 20 pages per condition; lower is better.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Skew and uneven light are where processing matters.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Combined stays near 1.0 for every method.</a:t>
            </a:r>
            <a:endParaRPr lang="en-US" sz="1400" dirty="0"/>
          </a:p>
        </p:txBody>
      </p:sp>
      <p:sp>
        <p:nvSpPr>
          <p:cNvPr id="5" name="source note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Source: outputs/summary.md, 20 documents per condition, seed 2026.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processing clearly helps</a:t>
            </a:r>
            <a:endParaRPr lang="en-US" sz="2800" dirty="0"/>
          </a:p>
        </p:txBody>
      </p:sp>
      <p:sp>
        <p:nvSpPr>
          <p:cNvPr id="3" name="skew stat card"/>
          <p:cNvSpPr/>
          <p:nvPr/>
        </p:nvSpPr>
        <p:spPr>
          <a:xfrm>
            <a:off x="457200" y="128016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4" name="skew stat value"/>
          <p:cNvSpPr txBox="1"/>
          <p:nvPr/>
        </p:nvSpPr>
        <p:spPr>
          <a:xfrm>
            <a:off x="594360" y="14173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0.264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→ 0.016</a:t>
            </a:r>
            <a:endParaRPr lang="en-US" sz="2800" dirty="0"/>
          </a:p>
        </p:txBody>
      </p:sp>
      <p:sp>
        <p:nvSpPr>
          <p:cNvPr id="5" name="skew stat label"/>
          <p:cNvSpPr txBox="1"/>
          <p:nvPr/>
        </p:nvSpPr>
        <p:spPr>
          <a:xfrm>
            <a:off x="594360" y="2514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 on skewed pages, gray vs enhanced (deskew)</a:t>
            </a:r>
            <a:endParaRPr lang="en-US" sz="1400" dirty="0"/>
          </a:p>
        </p:txBody>
      </p:sp>
      <p:sp>
        <p:nvSpPr>
          <p:cNvPr id="6" name="light stat card"/>
          <p:cNvSpPr/>
          <p:nvPr/>
        </p:nvSpPr>
        <p:spPr>
          <a:xfrm>
            <a:off x="3291840" y="1280160"/>
            <a:ext cx="260604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7" name="light stat value"/>
          <p:cNvSpPr txBox="1"/>
          <p:nvPr/>
        </p:nvSpPr>
        <p:spPr>
          <a:xfrm>
            <a:off x="3429000" y="141732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0.458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→ 0.015</a:t>
            </a:r>
            <a:endParaRPr lang="en-US" sz="2800" dirty="0"/>
          </a:p>
        </p:txBody>
      </p:sp>
      <p:sp>
        <p:nvSpPr>
          <p:cNvPr id="8" name="light stat label"/>
          <p:cNvSpPr txBox="1"/>
          <p:nvPr/>
        </p:nvSpPr>
        <p:spPr>
          <a:xfrm>
            <a:off x="3429000" y="25146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CER on unevenly lit pages, Otsu vs enhanced</a:t>
            </a:r>
            <a:endParaRPr lang="en-US" sz="1400" dirty="0"/>
          </a:p>
        </p:txBody>
      </p:sp>
      <p:sp>
        <p:nvSpPr>
          <p:cNvPr id="9" name="angle stat card"/>
          <p:cNvSpPr/>
          <p:nvPr/>
        </p:nvSpPr>
        <p:spPr>
          <a:xfrm>
            <a:off x="6126480" y="1280160"/>
            <a:ext cx="2560320" cy="219456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10" name="angle stat value"/>
          <p:cNvSpPr txBox="1"/>
          <p:nvPr/>
        </p:nvSpPr>
        <p:spPr>
          <a:xfrm>
            <a:off x="6263640" y="1417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0.03°</a:t>
            </a:r>
            <a:endParaRPr lang="en-US" sz="2800" dirty="0"/>
          </a:p>
        </p:txBody>
      </p:sp>
      <p:sp>
        <p:nvSpPr>
          <p:cNvPr id="11" name="angle stat label"/>
          <p:cNvSpPr txBox="1"/>
          <p:nvPr/>
        </p:nvSpPr>
        <p:spPr>
          <a:xfrm>
            <a:off x="6263640" y="25146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mean skew-estimation error (0.028° on skew pages)</a:t>
            </a:r>
            <a:endParaRPr lang="en-US" sz="1400" dirty="0"/>
          </a:p>
        </p:txBody>
      </p:sp>
      <p:sp>
        <p:nvSpPr>
          <p:cNvPr id="12" name="help takeaway"/>
          <p:cNvSpPr txBox="1"/>
          <p:nvPr/>
        </p:nvSpPr>
        <p:spPr>
          <a:xfrm>
            <a:off x="457200" y="3749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global threshold fails under uneven light and blur (Otsu CER 0.458 and 0.657); the enhanced pipeline restores 0.015 and 0.019.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Where it does not help</a:t>
            </a:r>
            <a:endParaRPr lang="en-US" sz="2800" dirty="0"/>
          </a:p>
        </p:txBody>
      </p:sp>
      <p:sp>
        <p:nvSpPr>
          <p:cNvPr id="3" name="noise stat card"/>
          <p:cNvSpPr/>
          <p:nvPr/>
        </p:nvSpPr>
        <p:spPr>
          <a:xfrm>
            <a:off x="457200" y="123444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4" name="noise stat value"/>
          <p:cNvSpPr txBox="1"/>
          <p:nvPr/>
        </p:nvSpPr>
        <p:spPr>
          <a:xfrm>
            <a:off x="59436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0.030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 0.047</a:t>
            </a:r>
            <a:endParaRPr lang="en-US" sz="2800" dirty="0"/>
          </a:p>
        </p:txBody>
      </p:sp>
      <p:sp>
        <p:nvSpPr>
          <p:cNvPr id="5" name="noise stat label"/>
          <p:cNvSpPr txBox="1"/>
          <p:nvPr/>
        </p:nvSpPr>
        <p:spPr>
          <a:xfrm>
            <a:off x="594360" y="24688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noise: gray vs enhanced</a:t>
            </a:r>
            <a:endParaRPr lang="en-US" sz="1400" dirty="0"/>
          </a:p>
        </p:txBody>
      </p:sp>
      <p:sp>
        <p:nvSpPr>
          <p:cNvPr id="6" name="contrast stat card"/>
          <p:cNvSpPr/>
          <p:nvPr/>
        </p:nvSpPr>
        <p:spPr>
          <a:xfrm>
            <a:off x="2560320" y="123444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7" name="contrast stat value"/>
          <p:cNvSpPr txBox="1"/>
          <p:nvPr/>
        </p:nvSpPr>
        <p:spPr>
          <a:xfrm>
            <a:off x="269748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0.017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 0.071</a:t>
            </a:r>
            <a:endParaRPr lang="en-US" sz="2800" dirty="0"/>
          </a:p>
        </p:txBody>
      </p:sp>
      <p:sp>
        <p:nvSpPr>
          <p:cNvPr id="8" name="contrast stat label"/>
          <p:cNvSpPr txBox="1"/>
          <p:nvPr/>
        </p:nvSpPr>
        <p:spPr>
          <a:xfrm>
            <a:off x="2697480" y="24688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 contrast: gray vs enhanced</a:t>
            </a:r>
            <a:endParaRPr lang="en-US" sz="1400" dirty="0"/>
          </a:p>
        </p:txBody>
      </p:sp>
      <p:sp>
        <p:nvSpPr>
          <p:cNvPr id="9" name="binary stat card"/>
          <p:cNvSpPr/>
          <p:nvPr/>
        </p:nvSpPr>
        <p:spPr>
          <a:xfrm>
            <a:off x="4663440" y="1234440"/>
            <a:ext cx="1965960" cy="2011680"/>
          </a:xfrm>
          <a:prstGeom prst="roundRect">
            <a:avLst>
              <a:gd name="adj" fmla="val 3721"/>
            </a:avLst>
          </a:prstGeom>
          <a:solidFill>
            <a:schemeClr val="bg2"/>
          </a:solidFill>
          <a:ln/>
        </p:spPr>
      </p:sp>
      <p:sp>
        <p:nvSpPr>
          <p:cNvPr id="10" name="binary stat value"/>
          <p:cNvSpPr txBox="1"/>
          <p:nvPr/>
        </p:nvSpPr>
        <p:spPr>
          <a:xfrm>
            <a:off x="4800600" y="1371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0.313</a:t>
            </a:r>
            <a:endParaRPr lang="en-US" sz="2800" dirty="0"/>
          </a:p>
        </p:txBody>
      </p:sp>
      <p:sp>
        <p:nvSpPr>
          <p:cNvPr id="11" name="binary stat label"/>
          <p:cNvSpPr txBox="1"/>
          <p:nvPr/>
        </p:nvSpPr>
        <p:spPr>
          <a:xfrm>
            <a:off x="4800600" y="24688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clean pages after binarisation (gray: 0.015)</a:t>
            </a:r>
            <a:endParaRPr lang="en-US" sz="1400" dirty="0"/>
          </a:p>
        </p:txBody>
      </p:sp>
      <p:sp>
        <p:nvSpPr>
          <p:cNvPr id="12" name="combined stat card"/>
          <p:cNvSpPr/>
          <p:nvPr/>
        </p:nvSpPr>
        <p:spPr>
          <a:xfrm>
            <a:off x="6766560" y="123444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</p:sp>
      <p:sp>
        <p:nvSpPr>
          <p:cNvPr id="13" name="combined stat value"/>
          <p:cNvSpPr txBox="1"/>
          <p:nvPr/>
        </p:nvSpPr>
        <p:spPr>
          <a:xfrm>
            <a:off x="6903720" y="137160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0.94–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1.00</a:t>
            </a:r>
            <a:endParaRPr lang="en-US" sz="2800" dirty="0"/>
          </a:p>
        </p:txBody>
      </p:sp>
      <p:sp>
        <p:nvSpPr>
          <p:cNvPr id="14" name="combined stat label"/>
          <p:cNvSpPr txBox="1"/>
          <p:nvPr/>
        </p:nvSpPr>
        <p:spPr>
          <a:xfrm>
            <a:off x="6903720" y="2468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combined condition, every method</a:t>
            </a:r>
            <a:endParaRPr lang="en-US" sz="1400" dirty="0"/>
          </a:p>
        </p:txBody>
      </p:sp>
      <p:sp>
        <p:nvSpPr>
          <p:cNvPr id="15" name="failure notes"/>
          <p:cNvSpPr txBox="1"/>
          <p:nvPr/>
        </p:nvSpPr>
        <p:spPr>
          <a:xfrm>
            <a:off x="457200" y="3474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 learned OCR already reads clean, blurred and unevenly lit pages untouched (CER 0.015-0.024).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Denoise and stretch distort faint strokes; binarisation removes grey-level cues. Not investigated further.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Every method on every condition</a:t>
            </a:r>
            <a:endParaRPr lang="en-US" sz="2800" dirty="0"/>
          </a:p>
        </p:txBody>
      </p:sp>
      <p:pic>
        <p:nvPicPr>
          <p:cNvPr id="3" name="before after grid" descr="Degraded input and method outputs for each condition with mean C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160520" cy="3611880"/>
          </a:xfrm>
          <a:prstGeom prst="rect">
            <a:avLst/>
          </a:prstGeom>
        </p:spPr>
      </p:pic>
      <p:sp>
        <p:nvSpPr>
          <p:cNvPr id="4" name="grid commentary"/>
          <p:cNvSpPr txBox="1"/>
          <p:nvPr/>
        </p:nvSpPr>
        <p:spPr>
          <a:xfrm>
            <a:off x="4846320" y="128016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Rows: the seven conditions.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Columns: degraded input, gray, enhanced, enhancedBinary.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Enhanced output is flatter and straighter; on the combined page the text is still almost invisible, which is why every method fails there.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Limitations</a:t>
            </a:r>
            <a:endParaRPr lang="en-US" sz="2800" dirty="0"/>
          </a:p>
        </p:txBody>
      </p:sp>
      <p:sp>
        <p:nvSpPr>
          <p:cNvPr id="3" name="limitations list"/>
          <p:cNvSpPr txBox="1"/>
          <p:nvPr/>
        </p:nvSpPr>
        <p:spPr>
          <a:xfrm>
            <a:off x="457200" y="1280160"/>
            <a:ext cx="8229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Synthetic pages with one fixed layout; may not transfer to real scans.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One OCR engine (RapidOCR). A classical engine such as Tesseract would likely respond differently to binarisation.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Parameters were adjusted after inspecting pilot pages of the same generator, with no held-out set.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20 pages per condition: differences of a few thousandths are not significant.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ablation on the combined condition is a floor effect, not evidence either way.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Preprocessing should be selective and checked against the raw image</a:t>
            </a:r>
            <a:endParaRPr lang="en-US" sz="3800" dirty="0"/>
          </a:p>
        </p:txBody>
      </p:sp>
      <p:sp>
        <p:nvSpPr>
          <p:cNvPr id="3" name="conclusion"/>
          <p:cNvSpPr txBox="1"/>
          <p:nvPr/>
        </p:nvSpPr>
        <p:spPr>
          <a:xfrm>
            <a:off x="548640" y="2834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Deskew clearly pays off; illumination correction rescues a global threshold; on readable pages a modern OCR does as well untouched.</a:t>
            </a:r>
            <a:endParaRPr lang="en-US" sz="1800" dirty="0"/>
          </a:p>
        </p:txBody>
      </p:sp>
      <p:sp>
        <p:nvSpPr>
          <p:cNvPr id="4" name="contributions"/>
          <p:cNvSpPr txBox="1"/>
          <p:nvPr/>
        </p:nvSpPr>
        <p:spPr>
          <a:xfrm>
            <a:off x="548640" y="38404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Shubham Verma: synthetic data, degradations, OCR evaluation, experiment runner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Digdarshan Mishra: DIP stages, pipeline, analysis, figures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P OCR Project">
  <a:themeElements>
    <a:clrScheme name="DIP OCR Project">
      <a:dk1>
        <a:srgbClr val="1B2A41"/>
      </a:dk1>
      <a:lt1>
        <a:srgbClr val="FFFFFF"/>
      </a:lt1>
      <a:dk2>
        <a:srgbClr val="324A5F"/>
      </a:dk2>
      <a:lt2>
        <a:srgbClr val="EEF2F7"/>
      </a:lt2>
      <a:accent1>
        <a:srgbClr val="3A6EA5"/>
      </a:accent1>
      <a:accent2>
        <a:srgbClr val="D9731A"/>
      </a:accent2>
      <a:accent3>
        <a:srgbClr val="2E8B57"/>
      </a:accent3>
      <a:accent4>
        <a:srgbClr val="5B6770"/>
      </a:accent4>
      <a:accent5>
        <a:srgbClr val="8C4A6B"/>
      </a:accent5>
      <a:accent6>
        <a:srgbClr val="B8941F"/>
      </a:accent6>
      <a:hlink>
        <a:srgbClr val="3A6EA5"/>
      </a:hlink>
      <a:folHlink>
        <a:srgbClr val="5B6770"/>
      </a:folHlink>
    </a:clrScheme>
    <a:fontScheme name="DIP OCR Proje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RGIPT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Document-Image Enhancement for OCR on Insurance Claim Invoices</dc:title>
  <dc:subject>Digital Image Processing course project</dc:subject>
  <dc:creator>Shubham Verma; Digdarshan Mishra</dc:creator>
  <cp:lastModifiedBy>Shubham Verma; Digdarshan Mishra</cp:lastModifiedBy>
  <cp:revision>1</cp:revision>
  <dcterms:created xsi:type="dcterms:W3CDTF">2026-10-25T17:31:28Z</dcterms:created>
  <dcterms:modified xsi:type="dcterms:W3CDTF">2026-10-25T17:31:28Z</dcterms:modified>
</cp:coreProperties>
</file>